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693400" cy="7569200"/>
  <p:notesSz cx="10693400" cy="7569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3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2346452"/>
            <a:ext cx="9094788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4238752"/>
            <a:ext cx="7489825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987" y="1740916"/>
            <a:ext cx="4654391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0371" y="1740916"/>
            <a:ext cx="4654391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1560195"/>
          </a:xfrm>
          <a:custGeom>
            <a:avLst/>
            <a:gdLst/>
            <a:ahLst/>
            <a:cxnLst/>
            <a:rect l="l" t="t" r="r" b="b"/>
            <a:pathLst>
              <a:path w="10692130" h="1560195">
                <a:moveTo>
                  <a:pt x="10692003" y="0"/>
                </a:moveTo>
                <a:lnTo>
                  <a:pt x="0" y="0"/>
                </a:lnTo>
                <a:lnTo>
                  <a:pt x="0" y="1560068"/>
                </a:lnTo>
                <a:lnTo>
                  <a:pt x="10692003" y="1560068"/>
                </a:lnTo>
                <a:lnTo>
                  <a:pt x="10692003" y="0"/>
                </a:lnTo>
                <a:close/>
              </a:path>
            </a:pathLst>
          </a:custGeom>
          <a:solidFill>
            <a:srgbClr val="B34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84" y="150875"/>
            <a:ext cx="1190244" cy="12085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987" y="302768"/>
            <a:ext cx="9629775" cy="1211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987" y="1740916"/>
            <a:ext cx="9629775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7915" y="7039356"/>
            <a:ext cx="342392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987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3820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2" y="154040"/>
            <a:ext cx="1069340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63315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MGM’s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Engineering, Nanded</a:t>
            </a:r>
            <a:endParaRPr sz="1800" dirty="0">
              <a:latin typeface="Times New Roman"/>
              <a:cs typeface="Times New Roman"/>
            </a:endParaRPr>
          </a:p>
          <a:p>
            <a:pPr marL="4399915" marR="2521585" indent="-1127125">
              <a:lnSpc>
                <a:spcPct val="100000"/>
              </a:lnSpc>
            </a:pP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Engineering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Academic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2024-2</a:t>
            </a:r>
            <a:endParaRPr lang="en-IN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399915" marR="2521585" indent="-1127125">
              <a:lnSpc>
                <a:spcPct val="100000"/>
              </a:lnSpc>
            </a:pPr>
            <a:r>
              <a:rPr lang="en-IN" sz="2400" b="1" spc="30" dirty="0">
                <a:solidFill>
                  <a:srgbClr val="FFFFFF"/>
                </a:solidFill>
                <a:latin typeface="Times New Roman"/>
                <a:cs typeface="Times New Roman"/>
              </a:rPr>
              <a:t>“Big mart Sales Prediction System</a:t>
            </a:r>
            <a:r>
              <a:rPr lang="en-IN" sz="24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” </a:t>
            </a:r>
          </a:p>
          <a:p>
            <a:pPr algn="l"/>
            <a:endParaRPr lang="en-IN" sz="2400" dirty="0">
              <a:latin typeface="Times New Roman"/>
              <a:cs typeface="Times New Roman"/>
            </a:endParaRPr>
          </a:p>
          <a:p>
            <a:pPr algn="just"/>
            <a:r>
              <a:rPr sz="1600" b="1" spc="-5" dirty="0">
                <a:latin typeface="Times New Roman"/>
                <a:cs typeface="Times New Roman"/>
              </a:rPr>
              <a:t>Introduction</a:t>
            </a:r>
            <a:r>
              <a:rPr sz="1600" spc="-5" dirty="0">
                <a:latin typeface="Times New Roman"/>
                <a:cs typeface="Times New Roman"/>
              </a:rPr>
              <a:t>: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This </a:t>
            </a:r>
            <a:r>
              <a:rPr lang="en-US" sz="1600" dirty="0"/>
              <a:t>Big Mart Sales Prediction System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mini-project explores the application of machine learning techniques to predict sales for </a:t>
            </a:r>
            <a:r>
              <a:rPr lang="en-US" sz="16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BigMart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aiming to improve forecasting accuracy and strategic decision-making. We utilize a comprehensive dataset encompassing historical sales, promotional activities, store attributes, and external economic indicators. This mini-project demonstrates that integrating advanced analytical techniques and machine learning into sales forecasting can significantly improve accuracy and provide valuable insights. 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2391" y="3247644"/>
            <a:ext cx="0" cy="2514600"/>
          </a:xfrm>
          <a:custGeom>
            <a:avLst/>
            <a:gdLst/>
            <a:ahLst/>
            <a:cxnLst/>
            <a:rect l="l" t="t" r="r" b="b"/>
            <a:pathLst>
              <a:path h="2514600">
                <a:moveTo>
                  <a:pt x="0" y="0"/>
                </a:moveTo>
                <a:lnTo>
                  <a:pt x="0" y="2514599"/>
                </a:lnTo>
              </a:path>
            </a:pathLst>
          </a:custGeom>
          <a:ln w="9144">
            <a:solidFill>
              <a:srgbClr val="6F2F9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8255" y="6120070"/>
            <a:ext cx="6544640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sz="1600" b="1" spc="-5" dirty="0">
                <a:latin typeface="Times New Roman"/>
                <a:cs typeface="Times New Roman"/>
              </a:rPr>
              <a:t>Conclusion: </a:t>
            </a:r>
            <a:r>
              <a:rPr lang="en-US" sz="1600" dirty="0"/>
              <a:t>The Big Mart Sales Prediction System successfully demonstrates how machine learning can be used to forecast sales in a retail environment. By analyzing historical sales data and incorporating features such as product visibility, outlet size, location type, and product category, the system provides accurate and actionable sales predictions</a:t>
            </a:r>
            <a:r>
              <a:rPr lang="en-US" dirty="0"/>
              <a:t>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07195" y="5933947"/>
            <a:ext cx="3942848" cy="1524000"/>
          </a:xfrm>
          <a:custGeom>
            <a:avLst/>
            <a:gdLst/>
            <a:ahLst/>
            <a:cxnLst/>
            <a:rect l="l" t="t" r="r" b="b"/>
            <a:pathLst>
              <a:path w="3721100" h="1524000">
                <a:moveTo>
                  <a:pt x="3721100" y="0"/>
                </a:moveTo>
                <a:lnTo>
                  <a:pt x="0" y="0"/>
                </a:lnTo>
                <a:lnTo>
                  <a:pt x="0" y="1524000"/>
                </a:lnTo>
                <a:lnTo>
                  <a:pt x="3721100" y="1524000"/>
                </a:lnTo>
                <a:lnTo>
                  <a:pt x="372110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r>
              <a:rPr lang="en-IN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Hazari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8908763" y="5933947"/>
            <a:ext cx="167589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sz="1800" b="1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9493" y="6467601"/>
            <a:ext cx="1562606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lang="en-IN" sz="17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A. D. </a:t>
            </a:r>
            <a:r>
              <a:rPr lang="en-IN" sz="175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Hazari</a:t>
            </a:r>
            <a:endParaRPr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7199" y="5915023"/>
            <a:ext cx="2101557" cy="1493999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 marR="59055">
              <a:lnSpc>
                <a:spcPct val="100000"/>
              </a:lnSpc>
              <a:spcBef>
                <a:spcPts val="25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Name</a:t>
            </a:r>
            <a:r>
              <a:rPr sz="1800" b="1" spc="-35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sz="1800" b="1" spc="-2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Students: </a:t>
            </a:r>
            <a:r>
              <a:rPr sz="1800" b="1" spc="-39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spc="-39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S       </a:t>
            </a:r>
            <a:r>
              <a:rPr lang="en-IN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wapnil</a:t>
            </a:r>
            <a:r>
              <a:rPr lang="en-IN" sz="180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Pawar</a:t>
            </a:r>
          </a:p>
          <a:p>
            <a:pPr marL="92075" marR="59055">
              <a:lnSpc>
                <a:spcPct val="100000"/>
              </a:lnSpc>
              <a:spcBef>
                <a:spcPts val="250"/>
              </a:spcBef>
            </a:pPr>
            <a:r>
              <a:rPr lang="en-IN" spc="-5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Arsalan Khan</a:t>
            </a:r>
            <a:endParaRPr lang="en-IN" sz="1800" spc="-5" dirty="0">
              <a:solidFill>
                <a:srgbClr val="FFFFFF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92075" marR="59055">
              <a:lnSpc>
                <a:spcPct val="100000"/>
              </a:lnSpc>
              <a:spcBef>
                <a:spcPts val="250"/>
              </a:spcBef>
            </a:pPr>
            <a:r>
              <a:rPr lang="en-IN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Quazi</a:t>
            </a:r>
            <a:r>
              <a:rPr lang="en-IN" sz="180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Saif</a:t>
            </a:r>
            <a:endParaRPr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92075">
              <a:lnSpc>
                <a:spcPct val="100000"/>
              </a:lnSpc>
            </a:pPr>
            <a:r>
              <a:rPr lang="en-IN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Quazi</a:t>
            </a:r>
            <a:r>
              <a:rPr lang="en-IN" sz="1800" dirty="0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Qudsiya</a:t>
            </a:r>
            <a:endParaRPr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75192" y="5914644"/>
            <a:ext cx="0" cy="1647825"/>
          </a:xfrm>
          <a:custGeom>
            <a:avLst/>
            <a:gdLst/>
            <a:ahLst/>
            <a:cxnLst/>
            <a:rect l="l" t="t" r="r" b="b"/>
            <a:pathLst>
              <a:path h="1647825">
                <a:moveTo>
                  <a:pt x="0" y="0"/>
                </a:moveTo>
                <a:lnTo>
                  <a:pt x="0" y="1647824"/>
                </a:lnTo>
              </a:path>
            </a:pathLst>
          </a:custGeom>
          <a:ln w="9144">
            <a:solidFill>
              <a:srgbClr val="FFFFF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498585" y="4199001"/>
            <a:ext cx="460375" cy="3587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1270" algn="ctr">
              <a:lnSpc>
                <a:spcPts val="830"/>
              </a:lnSpc>
              <a:spcBef>
                <a:spcPts val="240"/>
              </a:spcBef>
            </a:pPr>
            <a:r>
              <a:rPr sz="800" spc="-5" dirty="0">
                <a:solidFill>
                  <a:srgbClr val="FFFFFF"/>
                </a:solidFill>
                <a:latin typeface="Times New Roman"/>
                <a:cs typeface="Times New Roman"/>
              </a:rPr>
              <a:t>Spelling 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 C</a:t>
            </a:r>
            <a:r>
              <a:rPr sz="800" spc="-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spc="-5" dirty="0">
                <a:solidFill>
                  <a:srgbClr val="FFFFFF"/>
                </a:solidFill>
                <a:latin typeface="Times New Roman"/>
                <a:cs typeface="Times New Roman"/>
              </a:rPr>
              <a:t>rr</a:t>
            </a:r>
            <a:r>
              <a:rPr sz="800" spc="-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cti</a:t>
            </a:r>
            <a:r>
              <a:rPr sz="800" spc="-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n  </a:t>
            </a:r>
            <a:r>
              <a:rPr sz="800" spc="-5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93457" y="5270372"/>
            <a:ext cx="466725" cy="2533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32080">
              <a:lnSpc>
                <a:spcPts val="830"/>
              </a:lnSpc>
              <a:spcBef>
                <a:spcPts val="240"/>
              </a:spcBef>
            </a:pPr>
            <a:r>
              <a:rPr sz="800" spc="-5" dirty="0">
                <a:solidFill>
                  <a:srgbClr val="FFFFFF"/>
                </a:solidFill>
                <a:latin typeface="Times New Roman"/>
                <a:cs typeface="Times New Roman"/>
              </a:rPr>
              <a:t>Post 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800" spc="-5" dirty="0">
                <a:solidFill>
                  <a:srgbClr val="FFFFFF"/>
                </a:solidFill>
                <a:latin typeface="Times New Roman"/>
                <a:cs typeface="Times New Roman"/>
              </a:rPr>
              <a:t>Pr</a:t>
            </a:r>
            <a:r>
              <a:rPr sz="800" spc="-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800" spc="-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800" dirty="0">
                <a:solidFill>
                  <a:srgbClr val="FFFFFF"/>
                </a:solidFill>
                <a:latin typeface="Times New Roman"/>
                <a:cs typeface="Times New Roman"/>
              </a:rPr>
              <a:t>ssing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57FE70C4-A71F-7C84-DE39-8240B10BA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5380AA4-D8A8-316F-4AF9-479DB3FDB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85" r="2680" b="9383"/>
          <a:stretch/>
        </p:blipFill>
        <p:spPr>
          <a:xfrm>
            <a:off x="5511926" y="3365737"/>
            <a:ext cx="5072736" cy="16478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A4E029-F0FC-43B3-D2D6-873A485F0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0" y="2990417"/>
            <a:ext cx="3464935" cy="266739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14D3FEE-BAB3-67A4-05B1-5EB63C98168F}"/>
              </a:ext>
            </a:extLst>
          </p:cNvPr>
          <p:cNvSpPr txBox="1"/>
          <p:nvPr/>
        </p:nvSpPr>
        <p:spPr>
          <a:xfrm>
            <a:off x="83819" y="2878312"/>
            <a:ext cx="2165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" marR="9144" algn="just" rtl="0" eaLnBrk="1" latinLnBrk="0" hangingPunct="1">
              <a:spcBef>
                <a:spcPts val="1480"/>
              </a:spcBef>
            </a:pPr>
            <a:r>
              <a:rPr lang="en-IN" sz="1800" b="1" kern="1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</a:t>
            </a:r>
            <a:r>
              <a:rPr lang="en-IN" sz="1800" b="1" kern="1200" spc="-9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sz="1800" b="1" kern="1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Architecture:</a:t>
            </a:r>
            <a:endParaRPr lang="en-IN" dirty="0">
              <a:effectLst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47429C-EDEF-4DCB-8BF8-F92799E3D20C}"/>
              </a:ext>
            </a:extLst>
          </p:cNvPr>
          <p:cNvSpPr txBox="1"/>
          <p:nvPr/>
        </p:nvSpPr>
        <p:spPr>
          <a:xfrm>
            <a:off x="5558080" y="2908921"/>
            <a:ext cx="2165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" marR="9144" algn="just" rtl="0" eaLnBrk="1" latinLnBrk="0" hangingPunct="1">
              <a:spcBef>
                <a:spcPts val="1480"/>
              </a:spcBef>
            </a:pPr>
            <a:r>
              <a:rPr lang="en-IN" sz="1800" b="1" kern="1200" spc="-5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Methodology:</a:t>
            </a:r>
            <a:endParaRPr lang="en-IN" dirty="0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23C821-1F5D-5698-3690-648EC6B2B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080" y="3331937"/>
            <a:ext cx="5026571" cy="2514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9F833C-5906-E99B-4E50-65B5EB9E2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77" y="3129967"/>
            <a:ext cx="3644104" cy="28419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187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Garbage monitor poster</dc:title>
  <dc:creator>avani kulkarni</dc:creator>
  <cp:keywords>DAGTYbkky5E,BAFpds4ljcs</cp:keywords>
  <cp:lastModifiedBy>Swapnil Pawar</cp:lastModifiedBy>
  <cp:revision>7</cp:revision>
  <dcterms:created xsi:type="dcterms:W3CDTF">2024-11-16T08:50:28Z</dcterms:created>
  <dcterms:modified xsi:type="dcterms:W3CDTF">2024-11-16T14:25:08Z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2024-11-16T00:00:00Z</vt:filetime>
  </property>
</Properties>
</file>